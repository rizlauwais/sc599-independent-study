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  <p:sldId id="258" r:id="rId3"/>
    <p:sldId id="259" r:id="rId4"/>
    <p:sldId id="272" r:id="rId5"/>
    <p:sldId id="273" r:id="rId6"/>
    <p:sldId id="260" r:id="rId7"/>
    <p:sldId id="262" r:id="rId8"/>
    <p:sldId id="264" r:id="rId9"/>
    <p:sldId id="268" r:id="rId10"/>
    <p:sldId id="261" r:id="rId11"/>
    <p:sldId id="277" r:id="rId12"/>
    <p:sldId id="265" r:id="rId13"/>
    <p:sldId id="275" r:id="rId14"/>
    <p:sldId id="276" r:id="rId15"/>
    <p:sldId id="269" r:id="rId16"/>
    <p:sldId id="278" r:id="rId17"/>
    <p:sldId id="270" r:id="rId18"/>
    <p:sldId id="271" r:id="rId19"/>
    <p:sldId id="27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4" d="100"/>
          <a:sy n="64" d="100"/>
        </p:scale>
        <p:origin x="-1566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_zLKMbLOHpdaKCgRItEZdujNZZvNbd-O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9391" y="3792510"/>
            <a:ext cx="7147810" cy="1169233"/>
          </a:xfrm>
        </p:spPr>
        <p:txBody>
          <a:bodyPr>
            <a:normAutofit fontScale="90000"/>
          </a:bodyPr>
          <a:lstStyle/>
          <a:p>
            <a:pPr algn="ctr"/>
            <a:r>
              <a:rPr sz="2400" b="1" dirty="0"/>
              <a:t>AI-Powered Multilingual Tourism </a:t>
            </a:r>
            <a:r>
              <a:rPr sz="2400" b="1" dirty="0" err="1"/>
              <a:t>Chatbot</a:t>
            </a:r>
            <a:endParaRPr sz="2400" b="1" dirty="0"/>
          </a:p>
          <a:p>
            <a:pPr algn="ctr"/>
            <a:r>
              <a:rPr lang="en-US" sz="2400" dirty="0" smtClean="0"/>
              <a:t/>
            </a:r>
            <a:br>
              <a:rPr lang="en-US" sz="2400" dirty="0" smtClean="0"/>
            </a:br>
            <a:r>
              <a:rPr sz="2400" dirty="0" smtClean="0"/>
              <a:t>(</a:t>
            </a:r>
            <a:r>
              <a:rPr sz="2400" dirty="0"/>
              <a:t>TF-IDF + Logistic Regression)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7010400" cy="69173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 V F </a:t>
            </a:r>
            <a:r>
              <a:rPr lang="en-US" dirty="0" err="1" smtClean="0"/>
              <a:t>Risla</a:t>
            </a:r>
            <a:endParaRPr lang="en-US" dirty="0" smtClean="0"/>
          </a:p>
          <a:p>
            <a:r>
              <a:rPr lang="en-US" dirty="0" smtClean="0"/>
              <a:t>CSC2405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Background and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Tourists </a:t>
            </a:r>
            <a:r>
              <a:rPr lang="en-US" dirty="0"/>
              <a:t>need quick access to reliable information</a:t>
            </a:r>
          </a:p>
          <a:p>
            <a:r>
              <a:rPr lang="en-US" dirty="0"/>
              <a:t>Sri Lanka is a multilingual country, which creates communication challenges</a:t>
            </a:r>
          </a:p>
          <a:p>
            <a:r>
              <a:rPr lang="en-US" dirty="0" err="1"/>
              <a:t>Chatbots</a:t>
            </a:r>
            <a:r>
              <a:rPr lang="en-US" dirty="0"/>
              <a:t> can provide real-time, interactive assistance</a:t>
            </a:r>
          </a:p>
          <a:p>
            <a:r>
              <a:rPr lang="en-US" dirty="0"/>
              <a:t>Goal: Build a practical multilingual tourism </a:t>
            </a:r>
            <a:r>
              <a:rPr lang="en-US" dirty="0" err="1"/>
              <a:t>chatbot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Build </a:t>
            </a:r>
            <a:r>
              <a:rPr lang="en-US" dirty="0"/>
              <a:t>an accurate multilingual intent classifier</a:t>
            </a:r>
          </a:p>
          <a:p>
            <a:r>
              <a:rPr lang="en-US" dirty="0"/>
              <a:t>Handle a small, structured dataset</a:t>
            </a:r>
          </a:p>
          <a:p>
            <a:r>
              <a:rPr lang="en-US" dirty="0"/>
              <a:t>Compare traditional ML and deep learning models</a:t>
            </a:r>
          </a:p>
          <a:p>
            <a:r>
              <a:rPr lang="en-US" dirty="0"/>
              <a:t>Choose the most effective and efficient approach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Literature Review &amp; Research </a:t>
            </a:r>
            <a:r>
              <a:rPr lang="en-US" b="1" dirty="0"/>
              <a:t>Gaps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Lack </a:t>
            </a:r>
            <a:r>
              <a:rPr lang="en-US" dirty="0"/>
              <a:t>of Focus on Low-Resource Languages in Tourism </a:t>
            </a:r>
            <a:r>
              <a:rPr lang="en-US" dirty="0" err="1" smtClean="0"/>
              <a:t>Chatbots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is limited research on building and evaluating </a:t>
            </a:r>
            <a:r>
              <a:rPr lang="en-US" dirty="0" smtClean="0"/>
              <a:t> tourism </a:t>
            </a:r>
            <a:r>
              <a:rPr lang="en-US" dirty="0" err="1"/>
              <a:t>chatbots</a:t>
            </a:r>
            <a:r>
              <a:rPr lang="en-US" dirty="0"/>
              <a:t> for low-resource languages </a:t>
            </a:r>
            <a:r>
              <a:rPr lang="en-US" dirty="0" smtClean="0"/>
              <a:t>especially </a:t>
            </a:r>
            <a:r>
              <a:rPr lang="en-US" dirty="0"/>
              <a:t>in a real Sri Lankan context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Over-Reliance on Large Deep Learning Models Without Considering Small </a:t>
            </a:r>
            <a:r>
              <a:rPr lang="en-US" dirty="0" smtClean="0"/>
              <a:t>Datasets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There </a:t>
            </a:r>
            <a:r>
              <a:rPr lang="en-US" dirty="0"/>
              <a:t>are few comparative studies that analyze how    traditional ML methods perform against deep models when the dataset is small and domain-specific.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757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Review &amp; Research Gaps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Limited </a:t>
            </a:r>
            <a:r>
              <a:rPr lang="en-US" sz="2400" dirty="0"/>
              <a:t>Evaluation of Practical, Deployable Tourism </a:t>
            </a:r>
            <a:r>
              <a:rPr lang="en-US" sz="2400" dirty="0" err="1"/>
              <a:t>Chatbots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 smtClean="0"/>
              <a:t>There </a:t>
            </a:r>
            <a:r>
              <a:rPr lang="en-US" sz="2400" dirty="0"/>
              <a:t>is insufficient work on integrated, deployable tourism </a:t>
            </a:r>
            <a:r>
              <a:rPr lang="en-US" sz="2400" dirty="0" err="1"/>
              <a:t>chatbot</a:t>
            </a:r>
            <a:r>
              <a:rPr lang="en-US" sz="2400" dirty="0"/>
              <a:t> </a:t>
            </a:r>
            <a:r>
              <a:rPr lang="en-US" sz="2400" dirty="0" smtClean="0"/>
              <a:t>systems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Lack </a:t>
            </a:r>
            <a:r>
              <a:rPr lang="en-US" sz="2400" dirty="0"/>
              <a:t>of Domain-Specific Multilingual Datasets for </a:t>
            </a:r>
            <a:r>
              <a:rPr lang="en-US" sz="2400" dirty="0" smtClean="0"/>
              <a:t>Tourism</a:t>
            </a:r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 smtClean="0"/>
              <a:t>There </a:t>
            </a:r>
            <a:r>
              <a:rPr lang="en-US" sz="2400" dirty="0"/>
              <a:t>is a shortage of curated, domain-specific multilingual datasets for tourism, especially covering Sri Lanka-related queries.</a:t>
            </a:r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988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Proposed Solution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dirty="0" smtClean="0"/>
              <a:t>Develop </a:t>
            </a:r>
            <a:r>
              <a:rPr dirty="0"/>
              <a:t>a multilingual tourism </a:t>
            </a:r>
            <a:r>
              <a:rPr dirty="0" err="1"/>
              <a:t>chatbot</a:t>
            </a:r>
            <a:r>
              <a:rPr dirty="0"/>
              <a:t> </a:t>
            </a:r>
            <a:endParaRPr lang="en-US" dirty="0" smtClean="0"/>
          </a:p>
          <a:p>
            <a:r>
              <a:rPr dirty="0" smtClean="0"/>
              <a:t>Create </a:t>
            </a:r>
            <a:r>
              <a:rPr dirty="0"/>
              <a:t>and use a balanced tourism Q&amp;A dataset</a:t>
            </a:r>
          </a:p>
          <a:p>
            <a:r>
              <a:rPr dirty="0"/>
              <a:t>Implement and compare three models</a:t>
            </a:r>
          </a:p>
          <a:p>
            <a:r>
              <a:rPr dirty="0"/>
              <a:t>Integrate the best model into the final system</a:t>
            </a:r>
          </a:p>
          <a:p>
            <a:r>
              <a:rPr dirty="0"/>
              <a:t>Demonstrate the system using a simple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High-level </a:t>
            </a:r>
            <a:r>
              <a:rPr b="1" dirty="0" smtClean="0"/>
              <a:t>Architecture</a:t>
            </a:r>
            <a:r>
              <a:rPr lang="en-US" b="1" dirty="0" smtClean="0"/>
              <a:t> Diagram</a:t>
            </a:r>
            <a:endParaRPr b="1" dirty="0"/>
          </a:p>
        </p:txBody>
      </p:sp>
      <p:pic>
        <p:nvPicPr>
          <p:cNvPr id="3074" name="Picture 2" descr="D:\MSc\Independence Study\In Study FINAL\Submission\Architecture D New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57227"/>
            <a:ext cx="8229600" cy="2861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dirty="0" smtClean="0"/>
              <a:t>Model </a:t>
            </a:r>
            <a:r>
              <a:rPr dirty="0"/>
              <a:t>1: TF-IDF + Logistic Regression (final system)</a:t>
            </a:r>
          </a:p>
          <a:p>
            <a:r>
              <a:rPr dirty="0"/>
              <a:t>Model 2: </a:t>
            </a:r>
            <a:r>
              <a:rPr dirty="0" err="1"/>
              <a:t>BiLSTM</a:t>
            </a:r>
            <a:r>
              <a:rPr dirty="0"/>
              <a:t> (deep learning)</a:t>
            </a:r>
          </a:p>
          <a:p>
            <a:r>
              <a:rPr dirty="0"/>
              <a:t>Model 3: XLM-R (transformer-based multilingual model)</a:t>
            </a:r>
          </a:p>
          <a:p>
            <a:r>
              <a:rPr dirty="0"/>
              <a:t>All models trained and evaluated using the same splits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dirty="0" smtClean="0"/>
              <a:t>Developed </a:t>
            </a:r>
            <a:r>
              <a:rPr dirty="0"/>
              <a:t>using </a:t>
            </a:r>
            <a:r>
              <a:rPr dirty="0" err="1"/>
              <a:t>Gradio</a:t>
            </a:r>
            <a:endParaRPr dirty="0"/>
          </a:p>
          <a:p>
            <a:r>
              <a:rPr dirty="0"/>
              <a:t>Supports English, Sinhala, and Tamil queries</a:t>
            </a:r>
          </a:p>
          <a:p>
            <a:r>
              <a:rPr dirty="0"/>
              <a:t>Displays answer, predicted category, and confidence score</a:t>
            </a:r>
          </a:p>
          <a:p>
            <a:r>
              <a:rPr dirty="0"/>
              <a:t>Demonstrates end-to-end system functionality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</a:t>
            </a:r>
          </a:p>
        </p:txBody>
      </p:sp>
      <p:pic>
        <p:nvPicPr>
          <p:cNvPr id="5" name="Picture 2" descr="D:\MSc\Independence Study\In Study FINAL\Submission\Dataset SS_4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837" y="1377627"/>
            <a:ext cx="7354326" cy="4620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and Technologies Used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707577594"/>
              </p:ext>
            </p:extLst>
          </p:nvPr>
        </p:nvGraphicFramePr>
        <p:xfrm>
          <a:off x="419725" y="1349118"/>
          <a:ext cx="8379501" cy="44115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63711"/>
                <a:gridCol w="6415790"/>
              </a:tblGrid>
              <a:tr h="630219">
                <a:tc>
                  <a:txBody>
                    <a:bodyPr/>
                    <a:lstStyle/>
                    <a:p>
                      <a:pPr marL="0" marR="0" algn="jus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Tool/Technology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Lath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Purpose in the System</a:t>
                      </a:r>
                    </a:p>
                    <a:p>
                      <a:pPr marL="0" marR="0" algn="jus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Latha"/>
                      </a:endParaRPr>
                    </a:p>
                  </a:txBody>
                  <a:tcPr marL="68580" marR="68580" marT="0" marB="0"/>
                </a:tc>
              </a:tr>
              <a:tr h="630219">
                <a:tc>
                  <a:txBody>
                    <a:bodyPr/>
                    <a:lstStyle/>
                    <a:p>
                      <a:pPr marL="0" marR="0" algn="jus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Python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Lath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/>
                      <a:r>
                        <a:rPr lang="en-US" dirty="0" smtClean="0"/>
                        <a:t>Main language for system development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Latha"/>
                      </a:endParaRPr>
                    </a:p>
                  </a:txBody>
                  <a:tcPr marL="68580" marR="68580" marT="0" marB="0"/>
                </a:tc>
              </a:tr>
              <a:tr h="630219">
                <a:tc>
                  <a:txBody>
                    <a:bodyPr/>
                    <a:lstStyle/>
                    <a:p>
                      <a:pPr marL="0" marR="0" algn="just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Google Colab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Lath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/>
                      <a:r>
                        <a:rPr lang="en-US" dirty="0" smtClean="0"/>
                        <a:t>Used for development and experiments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Latha"/>
                      </a:endParaRPr>
                    </a:p>
                  </a:txBody>
                  <a:tcPr marL="68580" marR="68580" marT="0" marB="0"/>
                </a:tc>
              </a:tr>
              <a:tr h="630219">
                <a:tc>
                  <a:txBody>
                    <a:bodyPr/>
                    <a:lstStyle/>
                    <a:p>
                      <a:pPr marL="0" marR="0" algn="just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PyTorch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Lath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/>
                      <a:r>
                        <a:rPr lang="en-US" dirty="0" smtClean="0"/>
                        <a:t>Used to train </a:t>
                      </a:r>
                      <a:r>
                        <a:rPr lang="en-US" dirty="0" err="1" smtClean="0"/>
                        <a:t>BiLSTM</a:t>
                      </a:r>
                      <a:r>
                        <a:rPr lang="en-US" dirty="0" smtClean="0"/>
                        <a:t> and XLM-R models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Latha"/>
                      </a:endParaRPr>
                    </a:p>
                  </a:txBody>
                  <a:tcPr marL="68580" marR="68580" marT="0" marB="0"/>
                </a:tc>
              </a:tr>
              <a:tr h="630219">
                <a:tc>
                  <a:txBody>
                    <a:bodyPr/>
                    <a:lstStyle/>
                    <a:p>
                      <a:pPr marL="0" marR="0" algn="just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Hugging Face Transformers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Lath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Used for fine-tuning and running XLM-R</a:t>
                      </a:r>
                    </a:p>
                    <a:p>
                      <a:pPr marL="0" marR="0" algn="just"/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Latha"/>
                      </a:endParaRPr>
                    </a:p>
                  </a:txBody>
                  <a:tcPr marL="68580" marR="68580" marT="0" marB="0"/>
                </a:tc>
              </a:tr>
              <a:tr h="630219">
                <a:tc>
                  <a:txBody>
                    <a:bodyPr/>
                    <a:lstStyle/>
                    <a:p>
                      <a:pPr marL="0" marR="0" algn="just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</a:rPr>
                        <a:t>Sckit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-learn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Lath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Used for TF-IDF, Logistic Regression, and similarity matching</a:t>
                      </a:r>
                    </a:p>
                    <a:p>
                      <a:pPr marL="0" marR="0" algn="just"/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Latha"/>
                      </a:endParaRPr>
                    </a:p>
                  </a:txBody>
                  <a:tcPr marL="68580" marR="68580" marT="0" marB="0"/>
                </a:tc>
              </a:tr>
              <a:tr h="630219">
                <a:tc>
                  <a:txBody>
                    <a:bodyPr/>
                    <a:lstStyle/>
                    <a:p>
                      <a:pPr marL="0" marR="0" algn="just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Gradio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Lath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Used to build the </a:t>
                      </a:r>
                      <a:r>
                        <a:rPr lang="en-US" dirty="0" err="1" smtClean="0"/>
                        <a:t>chatbot</a:t>
                      </a:r>
                      <a:r>
                        <a:rPr lang="en-US" dirty="0" smtClean="0"/>
                        <a:t> user interface</a:t>
                      </a:r>
                    </a:p>
                    <a:p>
                      <a:pPr marL="0" marR="0" algn="jus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Latha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898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Accuracy</a:t>
            </a:r>
            <a:r>
              <a:rPr lang="en-US" dirty="0"/>
              <a:t>: Overall correctness</a:t>
            </a:r>
          </a:p>
          <a:p>
            <a:r>
              <a:rPr lang="en-US" dirty="0"/>
              <a:t>Macro F1-score: Average performance across classes</a:t>
            </a:r>
          </a:p>
          <a:p>
            <a:r>
              <a:rPr lang="en-US" dirty="0"/>
              <a:t>Used for test set </a:t>
            </a:r>
            <a:r>
              <a:rPr lang="en-US" dirty="0" smtClean="0"/>
              <a:t>comparison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Comparison </a:t>
            </a:r>
            <a:r>
              <a:rPr lang="en-US" dirty="0" smtClean="0"/>
              <a:t>- </a:t>
            </a:r>
            <a:r>
              <a:rPr lang="en-US" b="1" dirty="0" smtClean="0"/>
              <a:t>Accuracy</a:t>
            </a:r>
            <a:endParaRPr lang="en-US" b="1" dirty="0"/>
          </a:p>
        </p:txBody>
      </p:sp>
      <p:pic>
        <p:nvPicPr>
          <p:cNvPr id="1026" name="Picture 2" descr="C:\Users\Rizla Uwais\Downloads\Model Comparison Accuracy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34" y="1538918"/>
            <a:ext cx="5760731" cy="4297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3367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Model Comparison – Macro F1 Score</a:t>
            </a:r>
            <a:endParaRPr lang="en-US" b="1" dirty="0"/>
          </a:p>
        </p:txBody>
      </p:sp>
      <p:pic>
        <p:nvPicPr>
          <p:cNvPr id="2050" name="Picture 2" descr="C:\Users\Rizla Uwais\Downloads\Model Comparison Macro F1 Score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34" y="1538918"/>
            <a:ext cx="5760731" cy="4297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8906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dirty="0" smtClean="0"/>
              <a:t>Compared </a:t>
            </a:r>
            <a:r>
              <a:rPr dirty="0"/>
              <a:t>three models for intent classification</a:t>
            </a:r>
          </a:p>
          <a:p>
            <a:r>
              <a:rPr dirty="0"/>
              <a:t>TF-IDF + Logistic Regression achieved the best performance</a:t>
            </a:r>
          </a:p>
          <a:p>
            <a:r>
              <a:rPr lang="en-US" dirty="0" err="1" smtClean="0"/>
              <a:t>BiLSTM</a:t>
            </a:r>
            <a:r>
              <a:rPr lang="en-US" dirty="0" smtClean="0"/>
              <a:t> </a:t>
            </a:r>
            <a:r>
              <a:rPr lang="en-US" dirty="0"/>
              <a:t>needs more data to outperform traditional methods</a:t>
            </a:r>
          </a:p>
          <a:p>
            <a:r>
              <a:rPr lang="en-US" dirty="0"/>
              <a:t>XLM-R requires larger datasets and more </a:t>
            </a:r>
            <a:r>
              <a:rPr lang="en-US" dirty="0" smtClean="0"/>
              <a:t>fine-tuning</a:t>
            </a:r>
          </a:p>
          <a:p>
            <a:r>
              <a:rPr lang="en-US" dirty="0"/>
              <a:t>TF-IDF + Logistic Regression works well for limited, structured </a:t>
            </a:r>
            <a:r>
              <a:rPr lang="en-US" dirty="0" smtClean="0"/>
              <a:t>data</a:t>
            </a:r>
            <a:endParaRPr lang="en-US" dirty="0"/>
          </a:p>
          <a:p>
            <a:r>
              <a:rPr lang="en-US" dirty="0" smtClean="0"/>
              <a:t>Simpler </a:t>
            </a:r>
            <a:r>
              <a:rPr lang="en-US" dirty="0"/>
              <a:t>models can outperform complex models with small </a:t>
            </a:r>
            <a:r>
              <a:rPr lang="en-US" dirty="0" smtClean="0"/>
              <a:t>datasets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Lessons </a:t>
            </a:r>
            <a:r>
              <a:rPr lang="en-US" b="1" dirty="0"/>
              <a:t>Learned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Simple </a:t>
            </a:r>
            <a:r>
              <a:rPr lang="en-US" dirty="0"/>
              <a:t>models can work better with small </a:t>
            </a:r>
            <a:r>
              <a:rPr lang="en-US" dirty="0" smtClean="0"/>
              <a:t>datasets</a:t>
            </a:r>
            <a:endParaRPr lang="en-US" dirty="0"/>
          </a:p>
          <a:p>
            <a:r>
              <a:rPr lang="en-US" dirty="0"/>
              <a:t>Deep learning needs more data to perform </a:t>
            </a:r>
            <a:r>
              <a:rPr lang="en-US" dirty="0" smtClean="0"/>
              <a:t>well</a:t>
            </a:r>
            <a:endParaRPr lang="en-US" dirty="0"/>
          </a:p>
          <a:p>
            <a:r>
              <a:rPr lang="en-US" dirty="0"/>
              <a:t>Both data quality and data size </a:t>
            </a:r>
            <a:r>
              <a:rPr lang="en-US" dirty="0" smtClean="0"/>
              <a:t>matter</a:t>
            </a:r>
            <a:endParaRPr lang="en-US" dirty="0"/>
          </a:p>
          <a:p>
            <a:r>
              <a:rPr lang="en-US" dirty="0"/>
              <a:t>Proper evaluation helps avoid </a:t>
            </a:r>
            <a:r>
              <a:rPr lang="en-US" dirty="0" err="1" smtClean="0"/>
              <a:t>overfitting</a:t>
            </a:r>
            <a:endParaRPr lang="en-US" dirty="0"/>
          </a:p>
          <a:p>
            <a:r>
              <a:rPr lang="en-US" dirty="0"/>
              <a:t>AI systems need good design, not just </a:t>
            </a:r>
            <a:r>
              <a:rPr lang="en-US" dirty="0" smtClean="0"/>
              <a:t>accuracy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982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/>
              <a:t>Expand the dataset with more questions and categories</a:t>
            </a:r>
          </a:p>
          <a:p>
            <a:r>
              <a:rPr lang="en-US" dirty="0"/>
              <a:t>Experiment with SVM and Naive Bayes classifiers</a:t>
            </a:r>
          </a:p>
          <a:p>
            <a:r>
              <a:rPr lang="en-US" dirty="0"/>
              <a:t>Explore hybrid features (TF-IDF + </a:t>
            </a:r>
            <a:r>
              <a:rPr lang="en-US" dirty="0" err="1"/>
              <a:t>embeddings</a:t>
            </a:r>
            <a:r>
              <a:rPr lang="en-US" dirty="0"/>
              <a:t>)</a:t>
            </a:r>
          </a:p>
          <a:p>
            <a:r>
              <a:rPr lang="en-US" dirty="0"/>
              <a:t>Improve transformer fine-tuning with more computational resources</a:t>
            </a:r>
          </a:p>
          <a:p>
            <a:r>
              <a:rPr lang="en-US" dirty="0"/>
              <a:t>Enhance response generation and system deployment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3652"/>
            <a:ext cx="8229600" cy="1319134"/>
          </a:xfrm>
        </p:spPr>
        <p:txBody>
          <a:bodyPr/>
          <a:lstStyle/>
          <a:p>
            <a:pPr algn="ctr"/>
            <a:r>
              <a:rPr dirty="0"/>
              <a:t>Thank You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Link to the code </a:t>
            </a:r>
            <a:r>
              <a:rPr lang="en-US"/>
              <a:t>and </a:t>
            </a:r>
            <a:r>
              <a:rPr lang="en-US" smtClean="0"/>
              <a:t>demo:</a:t>
            </a:r>
            <a:endParaRPr lang="en-US" dirty="0" smtClean="0">
              <a:hlinkClick r:id="rId2"/>
            </a:endParaRPr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drive.google.com/drive/folders/1_zLKMbLOHpdaKCgRItEZdujNZZvNbd-O?usp=sharing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5943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411</TotalTime>
  <Words>487</Words>
  <Application>Microsoft Office PowerPoint</Application>
  <PresentationFormat>On-screen Show (4:3)</PresentationFormat>
  <Paragraphs>108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Origin</vt:lpstr>
      <vt:lpstr>AI-Powered Multilingual Tourism Chatbot  (TF-IDF + Logistic Regression)</vt:lpstr>
      <vt:lpstr>Background and Motivation</vt:lpstr>
      <vt:lpstr>Problem Statement</vt:lpstr>
      <vt:lpstr>Literature Review &amp; Research Gaps</vt:lpstr>
      <vt:lpstr>Literature Review &amp; Research Gaps</vt:lpstr>
      <vt:lpstr>Proposed Solution</vt:lpstr>
      <vt:lpstr>High-level Architecture Diagram</vt:lpstr>
      <vt:lpstr>Models Implemented</vt:lpstr>
      <vt:lpstr>User Interface</vt:lpstr>
      <vt:lpstr>Dataset</vt:lpstr>
      <vt:lpstr>Tools and Technologies Used</vt:lpstr>
      <vt:lpstr>Evaluation Metrics</vt:lpstr>
      <vt:lpstr>Model Comparison - Accuracy</vt:lpstr>
      <vt:lpstr>Model Comparison – Macro F1 Score</vt:lpstr>
      <vt:lpstr>Conclusion</vt:lpstr>
      <vt:lpstr>Lessons Learned </vt:lpstr>
      <vt:lpstr>Future Work</vt:lpstr>
      <vt:lpstr>Thank You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Multilingual Tourism Chatbot  (TF-IDF + Logistic Regression)</dc:title>
  <dc:creator>Rizla Uwais</dc:creator>
  <dc:description>generated using python-pptx</dc:description>
  <cp:lastModifiedBy>Rizla Uwais</cp:lastModifiedBy>
  <cp:revision>24</cp:revision>
  <dcterms:created xsi:type="dcterms:W3CDTF">2013-01-27T09:14:16Z</dcterms:created>
  <dcterms:modified xsi:type="dcterms:W3CDTF">2026-02-06T15:53:44Z</dcterms:modified>
</cp:coreProperties>
</file>